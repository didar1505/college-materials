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25"/>
  </p:notesMasterIdLst>
  <p:handoutMasterIdLst>
    <p:handoutMasterId r:id="rId26"/>
  </p:handoutMasterIdLst>
  <p:sldIdLst>
    <p:sldId id="334" r:id="rId5"/>
    <p:sldId id="359" r:id="rId6"/>
    <p:sldId id="342" r:id="rId7"/>
    <p:sldId id="350" r:id="rId8"/>
    <p:sldId id="324" r:id="rId9"/>
    <p:sldId id="354" r:id="rId10"/>
    <p:sldId id="355" r:id="rId11"/>
    <p:sldId id="357" r:id="rId12"/>
    <p:sldId id="358" r:id="rId13"/>
    <p:sldId id="352" r:id="rId14"/>
    <p:sldId id="353" r:id="rId15"/>
    <p:sldId id="351" r:id="rId16"/>
    <p:sldId id="360" r:id="rId17"/>
    <p:sldId id="361" r:id="rId18"/>
    <p:sldId id="367" r:id="rId19"/>
    <p:sldId id="362" r:id="rId20"/>
    <p:sldId id="363" r:id="rId21"/>
    <p:sldId id="364" r:id="rId22"/>
    <p:sldId id="365" r:id="rId23"/>
    <p:sldId id="366" r:id="rId2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6747" autoAdjust="0"/>
  </p:normalViewPr>
  <p:slideViewPr>
    <p:cSldViewPr snapToGrid="0">
      <p:cViewPr varScale="1">
        <p:scale>
          <a:sx n="68" d="100"/>
          <a:sy n="68" d="100"/>
        </p:scale>
        <p:origin x="648" y="7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8B8788E2-050D-463F-A92F-4D0C04C1FF8B}" type="datetime1">
              <a:rPr lang="ru-RU" smtClean="0"/>
              <a:t>14.12.2025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397C78D2-97D1-4B37-BDD1-08A09BD4CA9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63C1047A-B6E2-4574-B7D3-9927A8C89A45}" type="datetime1">
              <a:rPr lang="ru-RU" smtClean="0"/>
              <a:t>14.12.2025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5939589-3E79-4C82-AA4A-FE78234FAA5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5939589-3E79-4C82-AA4A-FE78234FAA59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5939589-3E79-4C82-AA4A-FE78234FAA59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B4216-924C-494D-0DAD-1DA759310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A67C5F3-8A6B-3713-F674-5FEAC750F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8695F61-A37A-38F9-332B-6B9731D35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C6C5DE-16A8-842F-825F-DC914A734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5939589-3E79-4C82-AA4A-FE78234FAA59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2355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5939589-3E79-4C82-AA4A-FE78234FAA59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только с заголовком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ru-RU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Графический объект 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Графический объект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3" name="Графический объект 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изображение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ru-RU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ru-RU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dirty="0"/>
              <a:t>Щелкните, чтобы добавить рисунок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ru-RU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ru-RU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ru-RU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ru-RU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ru-RU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Графический объект 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3" name="Графический объект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Графический объект 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ru-RU">
                <a:solidFill>
                  <a:schemeClr val="bg1"/>
                </a:solidFill>
              </a:defRPr>
            </a:lvl1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рисунок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ru-RU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Графический объект 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Графический объект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3" name="Графический объект 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3" name="Рисунок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ru-RU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 + рисунок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ru-RU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ru-RU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lvl="0" rtl="0"/>
            <a:r>
              <a:rPr lang="ru-RU" dirty="0"/>
              <a:t>Текст слайда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Графический объект 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Графический объект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3" name="Графический объект 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5" name="Рисунок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ru-RU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изображение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ru-RU" sz="4000" b="1" cap="all" spc="0" baseline="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ru-RU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ru-RU" sz="1800"/>
            </a:lvl1pPr>
          </a:lstStyle>
          <a:p>
            <a:pPr rtl="0"/>
            <a:r>
              <a:rPr lang="ru-RU" dirty="0"/>
              <a:t>Щелкните, чтобы добавить рисунок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ru-RU" sz="1800"/>
            </a:lvl1pPr>
            <a:lvl2pPr marL="228600">
              <a:defRPr lang="ru-RU" sz="1600"/>
            </a:lvl2pPr>
            <a:lvl3pPr marL="457200">
              <a:defRPr lang="ru-RU" sz="1400"/>
            </a:lvl3pPr>
            <a:lvl4pPr marL="685800">
              <a:defRPr lang="ru-RU" sz="1200"/>
            </a:lvl4pPr>
            <a:lvl5pPr>
              <a:defRPr lang="ru-RU" sz="14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Графический объект 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9" name="Графический объект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" name="Нижний колонтитул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ru-RU"/>
            </a:lvl1pPr>
          </a:lstStyle>
          <a:p>
            <a:pPr rtl="0"/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с заголовком + подзаголовком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ru-RU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ru-RU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Графический объект 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Графический объект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3" name="Графический объект 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ru-RU" sz="4000" b="1" cap="all" spc="0" baseline="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8DA9DAA-006C-4F4B-980E-E3DF019B24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ru-RU" sz="1800"/>
            </a:lvl1pPr>
            <a:lvl2pPr marL="228600">
              <a:spcBef>
                <a:spcPts val="1200"/>
              </a:spcBef>
              <a:defRPr lang="ru-RU" sz="1800"/>
            </a:lvl2pPr>
            <a:lvl3pPr marL="685800">
              <a:spcBef>
                <a:spcPts val="1200"/>
              </a:spcBef>
              <a:defRPr lang="ru-RU" sz="1800"/>
            </a:lvl3pPr>
            <a:lvl4pPr marL="1143000">
              <a:spcBef>
                <a:spcPts val="1200"/>
              </a:spcBef>
              <a:defRPr lang="ru-RU" sz="1800"/>
            </a:lvl4pPr>
            <a:lvl5pPr marL="1600200">
              <a:spcBef>
                <a:spcPts val="12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ru-RU" sz="1800"/>
            </a:lvl1pPr>
            <a:lvl2pPr marL="228600">
              <a:spcBef>
                <a:spcPts val="1200"/>
              </a:spcBef>
              <a:defRPr lang="ru-RU" sz="1800"/>
            </a:lvl2pPr>
            <a:lvl3pPr marL="685800">
              <a:spcBef>
                <a:spcPts val="1200"/>
              </a:spcBef>
              <a:defRPr lang="ru-RU" sz="1800"/>
            </a:lvl3pPr>
            <a:lvl4pPr marL="1143000">
              <a:spcBef>
                <a:spcPts val="1200"/>
              </a:spcBef>
              <a:defRPr lang="ru-RU" sz="1800"/>
            </a:lvl4pPr>
            <a:lvl5pPr marL="1600200">
              <a:spcBef>
                <a:spcPts val="12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Графический объект 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Графический объект 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Графический объект 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3" name="Нижний колонтитул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ru-RU"/>
            </a:lvl1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ru-RU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8DA9DAA-006C-4F4B-980E-E3DF019B24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ru-RU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ru-RU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ru-RU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7" name="Объект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ru-RU" sz="1800"/>
            </a:lvl1pPr>
            <a:lvl2pPr marL="457200" indent="0">
              <a:spcBef>
                <a:spcPts val="1200"/>
              </a:spcBef>
              <a:buNone/>
              <a:defRPr lang="ru-RU" sz="1600"/>
            </a:lvl2pPr>
            <a:lvl3pPr marL="914400" indent="0">
              <a:spcBef>
                <a:spcPts val="1200"/>
              </a:spcBef>
              <a:buNone/>
              <a:defRPr lang="ru-RU" sz="1400"/>
            </a:lvl3pPr>
            <a:lvl4pPr marL="1371600" indent="0">
              <a:spcBef>
                <a:spcPts val="1200"/>
              </a:spcBef>
              <a:buNone/>
              <a:defRPr lang="ru-RU" sz="1200"/>
            </a:lvl4pPr>
            <a:lvl5pPr marL="1828800" indent="0">
              <a:spcBef>
                <a:spcPts val="1200"/>
              </a:spcBef>
              <a:buNone/>
              <a:defRPr lang="ru-RU" sz="1200"/>
            </a:lvl5pPr>
          </a:lstStyle>
          <a:p>
            <a:pPr lvl="0" rtl="0"/>
            <a:r>
              <a:rPr lang="ru-RU" dirty="0"/>
              <a:t>Текст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ru-RU" sz="1800"/>
            </a:lvl1pPr>
            <a:lvl2pPr>
              <a:spcBef>
                <a:spcPts val="1200"/>
              </a:spcBef>
              <a:defRPr lang="ru-RU" sz="1600"/>
            </a:lvl2pPr>
            <a:lvl3pPr>
              <a:spcBef>
                <a:spcPts val="1200"/>
              </a:spcBef>
              <a:defRPr lang="ru-RU" sz="1400"/>
            </a:lvl3pPr>
            <a:lvl4pPr>
              <a:spcBef>
                <a:spcPts val="1200"/>
              </a:spcBef>
              <a:defRPr lang="ru-RU" sz="1200"/>
            </a:lvl4pPr>
            <a:lvl5pPr>
              <a:spcBef>
                <a:spcPts val="1200"/>
              </a:spcBef>
              <a:defRPr lang="ru-RU" sz="12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1" name="Нижний колонтитул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ru-RU"/>
            </a:lvl1pPr>
          </a:lstStyle>
          <a:p>
            <a:pPr rtl="0"/>
            <a:endParaRPr lang="ru-RU" dirty="0"/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ru-RU" sz="4000" b="1" i="0" cap="all" spc="0" baseline="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ru-RU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ru-RU" sz="1800"/>
            </a:lvl1pPr>
            <a:lvl2pPr marL="228600">
              <a:lnSpc>
                <a:spcPct val="110000"/>
              </a:lnSpc>
              <a:defRPr lang="ru-RU" sz="1600"/>
            </a:lvl2pPr>
            <a:lvl3pPr marL="457200">
              <a:lnSpc>
                <a:spcPct val="110000"/>
              </a:lnSpc>
              <a:defRPr lang="ru-RU" sz="1400"/>
            </a:lvl3pPr>
            <a:lvl4pPr marL="685800">
              <a:lnSpc>
                <a:spcPct val="110000"/>
              </a:lnSpc>
              <a:defRPr lang="ru-RU" sz="1200"/>
            </a:lvl4pPr>
            <a:lvl5pPr marL="914400">
              <a:lnSpc>
                <a:spcPct val="110000"/>
              </a:lnSpc>
              <a:defRPr lang="ru-RU" sz="12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 dirty="0"/>
              <a:t>Щелкните, чтобы добавить рисунок</a:t>
            </a:r>
          </a:p>
        </p:txBody>
      </p:sp>
      <p:sp>
        <p:nvSpPr>
          <p:cNvPr id="10" name="Нижний колонтитул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ru-RU"/>
            </a:lvl1pPr>
          </a:lstStyle>
          <a:p>
            <a:pPr rtl="0"/>
            <a:endParaRPr lang="ru-RU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изображ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ru-RU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ru-RU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ru-RU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ru-RU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ru-RU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ru-RU" sz="1200">
                <a:solidFill>
                  <a:schemeClr val="tx1"/>
                </a:solidFill>
              </a:defRPr>
            </a:lvl4pPr>
            <a:lvl5pPr>
              <a:defRPr lang="ru-RU" sz="14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бъект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ru-RU"/>
            </a:def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4" name="Нижний колонтитул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ru-RU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8DA9DAA-006C-4F4B-980E-E3DF019B24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ru-RU" sz="1800"/>
            </a:lvl1pPr>
            <a:lvl2pPr marL="457200">
              <a:spcBef>
                <a:spcPts val="1200"/>
              </a:spcBef>
              <a:defRPr lang="ru-RU" sz="1800"/>
            </a:lvl2pPr>
            <a:lvl3pPr marL="914400">
              <a:spcBef>
                <a:spcPts val="1200"/>
              </a:spcBef>
              <a:defRPr lang="ru-RU" sz="1800"/>
            </a:lvl3pPr>
            <a:lvl4pPr marL="1371600">
              <a:spcBef>
                <a:spcPts val="1200"/>
              </a:spcBef>
              <a:defRPr lang="ru-RU" sz="1800"/>
            </a:lvl4pPr>
            <a:lvl5pPr marL="1828800">
              <a:spcBef>
                <a:spcPts val="12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ru-RU" sz="1800"/>
            </a:lvl1pPr>
            <a:lvl2pPr>
              <a:spcBef>
                <a:spcPts val="1200"/>
              </a:spcBef>
              <a:defRPr lang="ru-RU" sz="1800"/>
            </a:lvl2pPr>
            <a:lvl3pPr>
              <a:spcBef>
                <a:spcPts val="1200"/>
              </a:spcBef>
              <a:defRPr lang="ru-RU" sz="1800"/>
            </a:lvl3pPr>
            <a:lvl4pPr>
              <a:spcBef>
                <a:spcPts val="1200"/>
              </a:spcBef>
              <a:defRPr lang="ru-RU" sz="1800"/>
            </a:lvl4pPr>
            <a:lvl5pPr>
              <a:spcBef>
                <a:spcPts val="12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Графический объект 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7" name="Графический объект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8" name="Графический объект 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1" name="Нижний колонтитул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ru-RU"/>
            </a:lvl1pPr>
          </a:lstStyle>
          <a:p>
            <a:pPr rtl="0"/>
            <a:endParaRPr lang="ru-RU" dirty="0"/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Графический объект 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6" name="Графический объект 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7" name="Графический объект 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ru-RU" sz="4000" b="1" cap="all" baseline="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8DA9DAA-006C-4F4B-980E-E3DF019B24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ru-RU"/>
            </a:def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ru-RU"/>
            </a:lvl1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, пузырьки и заголовок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ru-RU" sz="48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Рисунок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ru-RU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dirty="0"/>
              <a:t>Щелкните, чтобы добавить рисунок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ru-RU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dirty="0"/>
              <a:t>Текст слайда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Графический объект 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5" name="Графический объект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6" name="Графический объект 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D8DA9DAA-006C-4F4B-980E-E3DF019B24E2}" type="slidenum">
              <a:rPr lang="ru-RU" smtClean="0"/>
              <a:t>‹#›</a:t>
            </a:fld>
            <a:endParaRPr lang="ru-RU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8DA9DAA-006C-4F4B-980E-E3DF019B24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ru-RU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ru-RU" dirty="0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ru-RU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7032" y="341738"/>
            <a:ext cx="7983110" cy="308033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Git &amp; </a:t>
            </a:r>
            <a:r>
              <a:rPr lang="en-US" dirty="0" err="1"/>
              <a:t>github</a:t>
            </a:r>
            <a:endParaRPr lang="ru-RU" dirty="0"/>
          </a:p>
        </p:txBody>
      </p:sp>
      <p:sp>
        <p:nvSpPr>
          <p:cNvPr id="3" name="AutoShape 8" descr="GitHub | San Francisco CA">
            <a:extLst>
              <a:ext uri="{FF2B5EF4-FFF2-40B4-BE49-F238E27FC236}">
                <a16:creationId xmlns:a16="http://schemas.microsoft.com/office/drawing/2014/main" id="{CCEB4A48-E81E-D5BE-87EB-1A03F9D08B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41126" y="4844464"/>
            <a:ext cx="412173" cy="412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6" name="Picture 2" descr="32 Humorous Commit Messages. Read those Commit Messages to Brighten… | by  Isabela Imrose | JavaScript in Plain English">
            <a:extLst>
              <a:ext uri="{FF2B5EF4-FFF2-40B4-BE49-F238E27FC236}">
                <a16:creationId xmlns:a16="http://schemas.microsoft.com/office/drawing/2014/main" id="{7492E432-8CB7-2522-416B-EF85979BE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2524125"/>
            <a:ext cx="590550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2ADF14-0288-07B4-894D-9CA6A5D84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111" y="640080"/>
            <a:ext cx="7498080" cy="1280160"/>
          </a:xfrm>
        </p:spPr>
        <p:txBody>
          <a:bodyPr/>
          <a:lstStyle/>
          <a:p>
            <a:r>
              <a:rPr lang="ru-RU" dirty="0" err="1"/>
              <a:t>Линус</a:t>
            </a:r>
            <a:r>
              <a:rPr lang="ru-RU" dirty="0"/>
              <a:t> </a:t>
            </a:r>
            <a:r>
              <a:rPr lang="ru-RU" dirty="0" err="1"/>
              <a:t>Торвальдс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A86C9C-7435-A389-E3E5-23D299718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111" y="2194560"/>
            <a:ext cx="6295291" cy="4023360"/>
          </a:xfrm>
        </p:spPr>
        <p:txBody>
          <a:bodyPr/>
          <a:lstStyle/>
          <a:p>
            <a:r>
              <a:rPr lang="ru-RU" dirty="0"/>
              <a:t>инженер-программист, наиболее известный как создатель и ведущий разработчик ядра операционной системы </a:t>
            </a:r>
            <a:r>
              <a:rPr lang="ru-RU" b="1" dirty="0"/>
              <a:t>Linux</a:t>
            </a:r>
            <a:r>
              <a:rPr lang="ru-RU" dirty="0"/>
              <a:t> и распределенной системы управления версиями </a:t>
            </a:r>
            <a:r>
              <a:rPr lang="ru-RU" b="1" dirty="0" err="1"/>
              <a:t>Git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Ключевые достижения: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Linux: </a:t>
            </a:r>
            <a:r>
              <a:rPr lang="ru-RU" dirty="0"/>
              <a:t>В 1991 году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Git: </a:t>
            </a:r>
            <a:r>
              <a:rPr lang="ru-RU" dirty="0"/>
              <a:t>В 2005 </a:t>
            </a:r>
          </a:p>
        </p:txBody>
      </p:sp>
      <p:pic>
        <p:nvPicPr>
          <p:cNvPr id="2050" name="Picture 2" descr="Linus Torvalds | Biography, Linux, &amp; Facts | Britannica">
            <a:extLst>
              <a:ext uri="{FF2B5EF4-FFF2-40B4-BE49-F238E27FC236}">
                <a16:creationId xmlns:a16="http://schemas.microsoft.com/office/drawing/2014/main" id="{9402889A-DE3F-E47E-5235-CDF983790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487" y="0"/>
            <a:ext cx="46085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1673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Что такой </a:t>
            </a:r>
            <a:r>
              <a:rPr lang="en-US" dirty="0"/>
              <a:t>Git?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1" y="2194560"/>
            <a:ext cx="7897090" cy="2640676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sz="2000" dirty="0"/>
              <a:t>Git </a:t>
            </a:r>
            <a:r>
              <a:rPr lang="ru-RU" sz="2000" dirty="0"/>
              <a:t>– это система контроля версий</a:t>
            </a:r>
            <a:br>
              <a:rPr lang="ru-RU" sz="2000" dirty="0"/>
            </a:br>
            <a:r>
              <a:rPr lang="ru-RU" sz="2000" i="1" dirty="0"/>
              <a:t>Это «машина времени» для ваших проектов.</a:t>
            </a:r>
          </a:p>
          <a:p>
            <a:r>
              <a:rPr lang="ru-RU" sz="2000" dirty="0"/>
              <a:t>Она сохраняет «снимки» (версии) ваших файлов с течением времени, поэтому вы никогда не потеряете свою работу и сможете вернуться к предыдущим версиям.</a:t>
            </a:r>
          </a:p>
        </p:txBody>
      </p:sp>
      <p:pic>
        <p:nvPicPr>
          <p:cNvPr id="5" name="Picture 6" descr="Git! Все что вам нужно знать! | DATAENGINER">
            <a:extLst>
              <a:ext uri="{FF2B5EF4-FFF2-40B4-BE49-F238E27FC236}">
                <a16:creationId xmlns:a16="http://schemas.microsoft.com/office/drawing/2014/main" id="{59764599-590F-CED9-3526-5FC30C7267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0" t="8042" r="53067" b="15355"/>
          <a:stretch>
            <a:fillRect/>
          </a:stretch>
        </p:blipFill>
        <p:spPr bwMode="auto">
          <a:xfrm>
            <a:off x="1145355" y="1020655"/>
            <a:ext cx="1764099" cy="179916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8" descr="Free icon &quot;Microsoft Word icon&quot;">
            <a:extLst>
              <a:ext uri="{FF2B5EF4-FFF2-40B4-BE49-F238E27FC236}">
                <a16:creationId xmlns:a16="http://schemas.microsoft.com/office/drawing/2014/main" id="{E9517C1E-E607-C8F5-61EE-53AF2F680C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3300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F54C5256-5D03-E3EC-C754-3E2472F02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169" y="5067439"/>
            <a:ext cx="711177" cy="66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38A1E4-E0A3-E8D8-4303-FBB20ECBA7AD}"/>
              </a:ext>
            </a:extLst>
          </p:cNvPr>
          <p:cNvSpPr txBox="1"/>
          <p:nvPr/>
        </p:nvSpPr>
        <p:spPr>
          <a:xfrm>
            <a:off x="2004337" y="5729569"/>
            <a:ext cx="2484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 err="1"/>
              <a:t>Проект_финал</a:t>
            </a:r>
            <a:r>
              <a:rPr lang="ru-RU" sz="1600" dirty="0"/>
              <a:t>.</a:t>
            </a:r>
            <a:r>
              <a:rPr lang="en-US" sz="1600" dirty="0"/>
              <a:t>docx</a:t>
            </a:r>
            <a:endParaRPr lang="ru-RU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E29B57-E37A-67EC-2A9E-A7787D0AB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014" y="5067439"/>
            <a:ext cx="711177" cy="66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F41D11-C818-4C7D-613B-1095DDAE3795}"/>
              </a:ext>
            </a:extLst>
          </p:cNvPr>
          <p:cNvSpPr txBox="1"/>
          <p:nvPr/>
        </p:nvSpPr>
        <p:spPr>
          <a:xfrm>
            <a:off x="5126182" y="5729569"/>
            <a:ext cx="2484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 err="1"/>
              <a:t>Проект_финал</a:t>
            </a:r>
            <a:r>
              <a:rPr lang="en-US" sz="1600" dirty="0"/>
              <a:t>_v2</a:t>
            </a:r>
            <a:r>
              <a:rPr lang="ru-RU" sz="1600" dirty="0"/>
              <a:t>.</a:t>
            </a:r>
            <a:r>
              <a:rPr lang="en-US" sz="1600" dirty="0"/>
              <a:t>docx</a:t>
            </a:r>
            <a:endParaRPr lang="ru-RU" sz="1600" dirty="0"/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21F146B9-9C25-EF27-6356-F49A26131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859" y="5039562"/>
            <a:ext cx="711177" cy="66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EB82014-9FE4-C9CE-787C-F2CE49433257}"/>
              </a:ext>
            </a:extLst>
          </p:cNvPr>
          <p:cNvSpPr txBox="1"/>
          <p:nvPr/>
        </p:nvSpPr>
        <p:spPr>
          <a:xfrm>
            <a:off x="7936207" y="5701692"/>
            <a:ext cx="31081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/>
              <a:t>Проект</a:t>
            </a:r>
            <a:r>
              <a:rPr lang="en-US" sz="1600" dirty="0"/>
              <a:t>_</a:t>
            </a:r>
            <a:r>
              <a:rPr lang="ru-RU" sz="1600" dirty="0" err="1"/>
              <a:t>Точно_финал</a:t>
            </a:r>
            <a:r>
              <a:rPr lang="ru-RU" sz="1600" dirty="0"/>
              <a:t>.</a:t>
            </a:r>
            <a:r>
              <a:rPr lang="en-US" sz="1600" dirty="0"/>
              <a:t>docx</a:t>
            </a:r>
            <a:endParaRPr lang="ru-RU" sz="1600" dirty="0"/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34B62174-234A-D48B-ACF8-AC2D2ACC8026}"/>
              </a:ext>
            </a:extLst>
          </p:cNvPr>
          <p:cNvCxnSpPr/>
          <p:nvPr/>
        </p:nvCxnSpPr>
        <p:spPr>
          <a:xfrm>
            <a:off x="3906981" y="5389418"/>
            <a:ext cx="163483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0CD31910-E3D3-CD7E-99FD-1B9FB02F3807}"/>
              </a:ext>
            </a:extLst>
          </p:cNvPr>
          <p:cNvCxnSpPr/>
          <p:nvPr/>
        </p:nvCxnSpPr>
        <p:spPr>
          <a:xfrm>
            <a:off x="7118788" y="5389418"/>
            <a:ext cx="163483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6D6A9-963D-8B0E-1D1A-2614D44FF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57D840A3-2DC1-3196-66E8-A10C0CBA1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Используя </a:t>
            </a:r>
            <a:r>
              <a:rPr lang="en-US" dirty="0"/>
              <a:t>git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AA2D9E-5705-62E0-DC57-E17B89F1F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2297085"/>
            <a:ext cx="7897090" cy="2640676"/>
          </a:xfrm>
        </p:spPr>
        <p:txBody>
          <a:bodyPr rtlCol="0"/>
          <a:lstStyle>
            <a:defPPr>
              <a:defRPr lang="ru-RU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Возможность вернуться к старым версиям, если что-то сломалось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Видно, кто, что и когда изменил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Возможность совместной работы без хаоса.</a:t>
            </a:r>
          </a:p>
        </p:txBody>
      </p:sp>
      <p:pic>
        <p:nvPicPr>
          <p:cNvPr id="5" name="Picture 6" descr="Git! Все что вам нужно знать! | DATAENGINER">
            <a:extLst>
              <a:ext uri="{FF2B5EF4-FFF2-40B4-BE49-F238E27FC236}">
                <a16:creationId xmlns:a16="http://schemas.microsoft.com/office/drawing/2014/main" id="{1F80160B-94CE-4665-1C76-2F96EE1F0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0" t="8042" r="53067" b="15355"/>
          <a:stretch>
            <a:fillRect/>
          </a:stretch>
        </p:blipFill>
        <p:spPr bwMode="auto">
          <a:xfrm>
            <a:off x="1145355" y="1020655"/>
            <a:ext cx="1764099" cy="179916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8" descr="Free icon &quot;Microsoft Word icon&quot;">
            <a:extLst>
              <a:ext uri="{FF2B5EF4-FFF2-40B4-BE49-F238E27FC236}">
                <a16:creationId xmlns:a16="http://schemas.microsoft.com/office/drawing/2014/main" id="{A8F3AB0E-FB34-1342-470B-11D777322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03300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EE81E3D2-F3F9-7EE1-33CF-52F354A91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496" y="5217236"/>
            <a:ext cx="711177" cy="66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F3BE8D-8727-1CAA-FAF0-94E7FE6E11B1}"/>
              </a:ext>
            </a:extLst>
          </p:cNvPr>
          <p:cNvSpPr txBox="1"/>
          <p:nvPr/>
        </p:nvSpPr>
        <p:spPr>
          <a:xfrm>
            <a:off x="4830664" y="5879366"/>
            <a:ext cx="2484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 err="1"/>
              <a:t>Проект_финал</a:t>
            </a:r>
            <a:r>
              <a:rPr lang="ru-RU" sz="1600" dirty="0"/>
              <a:t>.</a:t>
            </a:r>
            <a:r>
              <a:rPr lang="en-US" sz="1600" dirty="0"/>
              <a:t>docx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023092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dirty="0"/>
              <a:t>Git </a:t>
            </a:r>
            <a:r>
              <a:rPr lang="ru-RU" dirty="0"/>
              <a:t>и </a:t>
            </a:r>
            <a:r>
              <a:rPr lang="en-US" dirty="0"/>
              <a:t>GitHub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4350327"/>
            <a:ext cx="3887585" cy="222550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Инструмент</a:t>
            </a:r>
            <a:r>
              <a:rPr lang="ru-RU" dirty="0"/>
              <a:t> на вашем компьютере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Программа командной строки, которая выполняет фактическое отслеживание версий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2FF1654-306D-262A-D360-5E5C2E6B3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22811" y="4350325"/>
            <a:ext cx="3693770" cy="222550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Веб-сайт</a:t>
            </a:r>
            <a:r>
              <a:rPr lang="ru-RU" dirty="0"/>
              <a:t>, на котором размещаются ваши проекты в интернете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Платформа для обмена и совместной работы</a:t>
            </a:r>
          </a:p>
        </p:txBody>
      </p:sp>
      <p:pic>
        <p:nvPicPr>
          <p:cNvPr id="7" name="Picture 6" descr="Git! Все что вам нужно знать! | DATAENGINER">
            <a:extLst>
              <a:ext uri="{FF2B5EF4-FFF2-40B4-BE49-F238E27FC236}">
                <a16:creationId xmlns:a16="http://schemas.microsoft.com/office/drawing/2014/main" id="{49BA39C4-A148-BA92-4D06-9375A77E39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0" t="8042" r="53067" b="15355"/>
          <a:stretch>
            <a:fillRect/>
          </a:stretch>
        </p:blipFill>
        <p:spPr bwMode="auto">
          <a:xfrm>
            <a:off x="2300154" y="2260490"/>
            <a:ext cx="1634538" cy="166703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GitHub - Компьютерное приложение для Mac, Windows (ПК) - WebCatalog">
            <a:extLst>
              <a:ext uri="{FF2B5EF4-FFF2-40B4-BE49-F238E27FC236}">
                <a16:creationId xmlns:a16="http://schemas.microsoft.com/office/drawing/2014/main" id="{928C5610-A293-6FAD-E922-CB499DDB1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813" y="2264931"/>
            <a:ext cx="1667033" cy="166703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6DC0F-216F-F88F-18B3-A53D2CEFCE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Как использовать</a:t>
            </a:r>
            <a:r>
              <a:rPr lang="en-US" dirty="0"/>
              <a:t> git?</a:t>
            </a:r>
            <a:r>
              <a:rPr lang="ru-RU" dirty="0"/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27CA41-48D7-3447-33CA-F457308F16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6325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3540FA-9A3F-90A8-2502-9845AEC1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Bash CLI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A22820-E769-CA92-4A6C-18517CFB5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/>
              <a:t>это одна из самых популярных </a:t>
            </a:r>
            <a:r>
              <a:rPr lang="ru-RU" sz="2400" b="1" dirty="0"/>
              <a:t>оболочек командной строки (CLI)</a:t>
            </a:r>
            <a:r>
              <a:rPr lang="ru-RU" sz="2400" dirty="0"/>
              <a:t> в мире Linux и </a:t>
            </a:r>
            <a:r>
              <a:rPr lang="ru-RU" sz="2400" dirty="0" err="1"/>
              <a:t>macOS</a:t>
            </a:r>
            <a:r>
              <a:rPr lang="ru-RU" sz="2400" dirty="0"/>
              <a:t>. </a:t>
            </a:r>
            <a:endParaRPr lang="en-US" sz="2400" dirty="0"/>
          </a:p>
          <a:p>
            <a:r>
              <a:rPr lang="ru-RU" sz="2400" dirty="0"/>
              <a:t>Она служит переводчиком между вами и операционной системой, позволяя управлять компьютером, вводя текстовые команды.</a:t>
            </a:r>
          </a:p>
        </p:txBody>
      </p:sp>
      <p:pic>
        <p:nvPicPr>
          <p:cNvPr id="2050" name="Picture 2" descr="How to Use Git Bash in Windows to Run Bash Scripts with PowerShell |  Sustainable Power Systems Lab">
            <a:extLst>
              <a:ext uri="{FF2B5EF4-FFF2-40B4-BE49-F238E27FC236}">
                <a16:creationId xmlns:a16="http://schemas.microsoft.com/office/drawing/2014/main" id="{98E9CA8B-450A-B2AB-436E-CA4DF588ABB7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80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0B7E8-9F7F-225B-C8C6-2DE3DAD0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5C9698-743C-6D99-B4D9-F06DB756A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 </a:t>
            </a:r>
            <a:r>
              <a:rPr lang="en-US" sz="3200" dirty="0"/>
              <a:t>(Graphical User Interface)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8D1E27-607E-635C-8456-237040B22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/>
              <a:t>это графический пользовательский интерфейс. </a:t>
            </a:r>
            <a:endParaRPr lang="en-US" sz="2400" dirty="0"/>
          </a:p>
          <a:p>
            <a:r>
              <a:rPr lang="ru-RU" sz="2400" dirty="0"/>
              <a:t>В отличие от командной строки, где вы вводите текст, GUI позволяет вам взаимодействовать с компьютером с помощью визуальных элементов: </a:t>
            </a:r>
            <a:r>
              <a:rPr lang="ru-RU" sz="2400" b="1" dirty="0"/>
              <a:t>окон, иконок, кнопок, меню</a:t>
            </a:r>
            <a:r>
              <a:rPr lang="ru-RU" sz="2400" dirty="0"/>
              <a:t> и </a:t>
            </a:r>
            <a:r>
              <a:rPr lang="ru-RU" sz="2400" b="1" dirty="0"/>
              <a:t>курсора мыши</a:t>
            </a:r>
            <a:r>
              <a:rPr lang="ru-RU" sz="2400" dirty="0"/>
              <a:t>. </a:t>
            </a:r>
          </a:p>
        </p:txBody>
      </p:sp>
      <p:pic>
        <p:nvPicPr>
          <p:cNvPr id="5" name="Picture 2" descr="Browser - Free interface icons">
            <a:extLst>
              <a:ext uri="{FF2B5EF4-FFF2-40B4-BE49-F238E27FC236}">
                <a16:creationId xmlns:a16="http://schemas.microsoft.com/office/drawing/2014/main" id="{629E6AFB-13FC-F43C-696A-4BF1F4716592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25" y="895350"/>
            <a:ext cx="1957388" cy="195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96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180B5-C07F-D2CC-08CE-1E76185D6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685800"/>
            <a:ext cx="10663311" cy="1280160"/>
          </a:xfrm>
        </p:spPr>
        <p:txBody>
          <a:bodyPr/>
          <a:lstStyle/>
          <a:p>
            <a:r>
              <a:rPr lang="ru-RU" b="0" dirty="0"/>
              <a:t>Словарь начинающего </a:t>
            </a:r>
            <a:r>
              <a:rPr lang="ru-RU" dirty="0"/>
              <a:t>гит</a:t>
            </a:r>
            <a:r>
              <a:rPr lang="ru-RU" b="0" dirty="0"/>
              <a:t>ариста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C1BCE6-6C67-6BDA-6748-78DB41A96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10911840" cy="4242172"/>
          </a:xfrm>
        </p:spPr>
        <p:txBody>
          <a:bodyPr>
            <a:normAutofit lnSpcReduction="10000"/>
          </a:bodyPr>
          <a:lstStyle/>
          <a:p>
            <a:r>
              <a:rPr lang="ru-RU" sz="2000" b="1" dirty="0"/>
              <a:t>Репозиторий</a:t>
            </a:r>
            <a:r>
              <a:rPr lang="ru-RU" sz="2000" dirty="0"/>
              <a:t> — это, по сути, папка проекта, за которой присматривает </a:t>
            </a:r>
            <a:r>
              <a:rPr lang="ru-RU" sz="2000" dirty="0" err="1"/>
              <a:t>Git</a:t>
            </a:r>
            <a:r>
              <a:rPr lang="ru-RU" sz="2000" dirty="0"/>
              <a:t>. </a:t>
            </a:r>
            <a:endParaRPr lang="en-US" sz="2000" dirty="0"/>
          </a:p>
          <a:p>
            <a:endParaRPr lang="en-US" sz="2000" dirty="0"/>
          </a:p>
          <a:p>
            <a:pPr algn="l"/>
            <a:r>
              <a:rPr lang="ru-RU" sz="2000" b="1" dirty="0"/>
              <a:t>Коммит</a:t>
            </a:r>
            <a:r>
              <a:rPr lang="ru-RU" sz="2000" dirty="0"/>
              <a:t> (</a:t>
            </a:r>
            <a:r>
              <a:rPr lang="ru-RU" sz="2000" b="1" dirty="0" err="1"/>
              <a:t>commit</a:t>
            </a:r>
            <a:r>
              <a:rPr lang="ru-RU" sz="2000" dirty="0"/>
              <a:t>) — это «сохранение» проекта в определённый момент. </a:t>
            </a:r>
            <a:endParaRPr lang="en-US" sz="2000" dirty="0"/>
          </a:p>
          <a:p>
            <a:pPr algn="l"/>
            <a:endParaRPr lang="en-US" sz="2000" dirty="0"/>
          </a:p>
          <a:p>
            <a:pPr algn="l"/>
            <a:r>
              <a:rPr lang="ru-RU" sz="2000" b="1" dirty="0"/>
              <a:t>Ветка</a:t>
            </a:r>
            <a:r>
              <a:rPr lang="ru-RU" sz="2000" dirty="0"/>
              <a:t> (</a:t>
            </a:r>
            <a:r>
              <a:rPr lang="ru-RU" sz="2000" b="1" dirty="0" err="1"/>
              <a:t>branch</a:t>
            </a:r>
            <a:r>
              <a:rPr lang="ru-RU" sz="2000" dirty="0"/>
              <a:t>) — это такая параллельная реальность проекта. </a:t>
            </a:r>
            <a:endParaRPr lang="en-US" sz="2000" dirty="0"/>
          </a:p>
          <a:p>
            <a:pPr algn="l"/>
            <a:endParaRPr lang="en-US" sz="2000" dirty="0"/>
          </a:p>
          <a:p>
            <a:pPr algn="l"/>
            <a:r>
              <a:rPr lang="ru-RU" sz="2000" b="1" dirty="0" err="1"/>
              <a:t>Пуш</a:t>
            </a:r>
            <a:r>
              <a:rPr lang="ru-RU" sz="2000" dirty="0"/>
              <a:t> (</a:t>
            </a:r>
            <a:r>
              <a:rPr lang="ru-RU" sz="2000" b="1" dirty="0" err="1"/>
              <a:t>push</a:t>
            </a:r>
            <a:r>
              <a:rPr lang="ru-RU" sz="2000" dirty="0"/>
              <a:t>) и Пул (</a:t>
            </a:r>
            <a:r>
              <a:rPr lang="ru-RU" sz="2000" b="1" dirty="0" err="1"/>
              <a:t>pull</a:t>
            </a:r>
            <a:r>
              <a:rPr lang="ru-RU" sz="2000" dirty="0"/>
              <a:t>) — это команды для синхронизации с удалённым репозиторием. 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err="1"/>
              <a:t>push</a:t>
            </a:r>
            <a:r>
              <a:rPr lang="ru-RU" sz="2000" dirty="0"/>
              <a:t> — отправить свои коммиты,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err="1"/>
              <a:t>pull</a:t>
            </a:r>
            <a:r>
              <a:rPr lang="ru-RU" sz="2000" dirty="0"/>
              <a:t> — забрать свежие изменения.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1702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203B-308F-E416-9AFC-0E08EB7A9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43D5D-82C1-63DD-808E-E2714531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Команды </a:t>
            </a:r>
            <a:r>
              <a:rPr lang="en-US" dirty="0"/>
              <a:t>cli bash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1BB094-2CFC-808A-E890-7EA91798D479}"/>
              </a:ext>
            </a:extLst>
          </p:cNvPr>
          <p:cNvSpPr txBox="1"/>
          <p:nvPr/>
        </p:nvSpPr>
        <p:spPr>
          <a:xfrm>
            <a:off x="1330036" y="2645643"/>
            <a:ext cx="10861964" cy="2711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ls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показать содержимое текущей папки (список файлов и папок).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ls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-a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показать все файлы, включая скрытые (те, что начинаются с точки).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cd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&lt;</a:t>
            </a: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путь_к_папке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сменить текущую папку (перейти в другую).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cd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..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перейти на один уровень вверх.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pwd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показать полный путь к текущей папке.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mkdir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&lt;</a:t>
            </a: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имя_папки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создать новую папку.</a:t>
            </a:r>
          </a:p>
        </p:txBody>
      </p:sp>
    </p:spTree>
    <p:extLst>
      <p:ext uri="{BB962C8B-B14F-4D97-AF65-F5344CB8AC3E}">
        <p14:creationId xmlns:p14="http://schemas.microsoft.com/office/powerpoint/2010/main" val="1527548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7F3A9-C2F3-BE3E-295B-7089675A3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79669-DF1B-9E51-C3EB-C4DFE5F97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Команды </a:t>
            </a:r>
            <a:r>
              <a:rPr lang="en-US" dirty="0"/>
              <a:t>cli git bash (2)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81D59-4DCF-F238-65B0-F38D294D9A30}"/>
              </a:ext>
            </a:extLst>
          </p:cNvPr>
          <p:cNvSpPr txBox="1"/>
          <p:nvPr/>
        </p:nvSpPr>
        <p:spPr>
          <a:xfrm>
            <a:off x="1280160" y="2592726"/>
            <a:ext cx="10385367" cy="352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touch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&lt;</a:t>
            </a: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имя_файла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создать новый пустой файл.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cp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&lt;</a:t>
            </a: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что_копировать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 &lt;</a:t>
            </a: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куда_копировать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скопировать файл или папку.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rm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&lt;</a:t>
            </a: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имя_файла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удалить файл. 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Осторожно, это действие необратимо!</a:t>
            </a:r>
            <a:endParaRPr lang="ru-RU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rm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-r &lt;</a:t>
            </a: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имя_папки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удалить папку со всем её содержимым.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cat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&lt;</a:t>
            </a: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имя_файла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вывести всё содержимое файла прямо в терминал.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less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&lt;</a:t>
            </a: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имя_файла</a:t>
            </a:r>
            <a:r>
              <a:rPr lang="ru-RU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открыть файл для постраничного просмотра (удобно для больших файлов). Выход — клавиша q.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clear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очистить экран терминала.</a:t>
            </a:r>
          </a:p>
        </p:txBody>
      </p:sp>
    </p:spTree>
    <p:extLst>
      <p:ext uri="{BB962C8B-B14F-4D97-AF65-F5344CB8AC3E}">
        <p14:creationId xmlns:p14="http://schemas.microsoft.com/office/powerpoint/2010/main" val="1979755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E5E96-7B96-17B5-1C37-BE8B0EE1F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</a:t>
            </a:r>
            <a:r>
              <a:rPr lang="en-US" dirty="0"/>
              <a:t>git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AA5AB7-1D14-24B1-C94E-22C69A761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77389" y="2535258"/>
            <a:ext cx="9637222" cy="404057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git config --global user.name "</a:t>
            </a:r>
            <a:r>
              <a:rPr lang="ru-RU" sz="2400" dirty="0"/>
              <a:t>Ваше Имя“</a:t>
            </a:r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git config --global </a:t>
            </a:r>
            <a:r>
              <a:rPr lang="en-US" sz="2400" dirty="0" err="1"/>
              <a:t>user.email</a:t>
            </a:r>
            <a:r>
              <a:rPr lang="en-US" sz="2400" dirty="0"/>
              <a:t> "vash.email@example.com"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25075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9D620-435C-AB22-C641-E95EDC2F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216" y="2674143"/>
            <a:ext cx="10515600" cy="1509713"/>
          </a:xfrm>
        </p:spPr>
        <p:txBody>
          <a:bodyPr/>
          <a:lstStyle/>
          <a:p>
            <a:r>
              <a:rPr lang="en-US" sz="8000" dirty="0"/>
              <a:t>git </a:t>
            </a:r>
            <a:r>
              <a:rPr lang="en-US" sz="8000" dirty="0" err="1"/>
              <a:t>init</a:t>
            </a:r>
            <a:endParaRPr lang="ru-RU" sz="80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8B741F-D814-B283-A3EA-63F228F226C3}"/>
              </a:ext>
            </a:extLst>
          </p:cNvPr>
          <p:cNvSpPr/>
          <p:nvPr/>
        </p:nvSpPr>
        <p:spPr>
          <a:xfrm>
            <a:off x="1049216" y="4458511"/>
            <a:ext cx="1083020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32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Создание локального </a:t>
            </a:r>
            <a:r>
              <a:rPr lang="en-US" sz="32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 </a:t>
            </a:r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для отслеживание проекта</a:t>
            </a:r>
            <a:endParaRPr lang="ru-RU" sz="28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1750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9D620-435C-AB22-C641-E95EDC2F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216" y="2674143"/>
            <a:ext cx="10515600" cy="1509713"/>
          </a:xfrm>
        </p:spPr>
        <p:txBody>
          <a:bodyPr/>
          <a:lstStyle/>
          <a:p>
            <a:r>
              <a:rPr lang="en-US" sz="8000" dirty="0"/>
              <a:t>git add filename</a:t>
            </a:r>
            <a:endParaRPr lang="ru-RU" sz="80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8B741F-D814-B283-A3EA-63F228F226C3}"/>
              </a:ext>
            </a:extLst>
          </p:cNvPr>
          <p:cNvSpPr/>
          <p:nvPr/>
        </p:nvSpPr>
        <p:spPr>
          <a:xfrm>
            <a:off x="1049216" y="4585121"/>
            <a:ext cx="105156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Эта команда помещает файлы в так называемую «область подготовки» (</a:t>
            </a:r>
            <a:r>
              <a:rPr lang="ru-RU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staging</a:t>
            </a:r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u-RU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area</a:t>
            </a:r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14604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9D620-435C-AB22-C641-E95EDC2F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216" y="2674143"/>
            <a:ext cx="10515600" cy="1509713"/>
          </a:xfrm>
        </p:spPr>
        <p:txBody>
          <a:bodyPr/>
          <a:lstStyle/>
          <a:p>
            <a:r>
              <a:rPr lang="en-US" sz="5400" dirty="0"/>
              <a:t>git restore --staged filename </a:t>
            </a:r>
            <a:endParaRPr lang="ru-RU" sz="54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8B741F-D814-B283-A3EA-63F228F226C3}"/>
              </a:ext>
            </a:extLst>
          </p:cNvPr>
          <p:cNvSpPr/>
          <p:nvPr/>
        </p:nvSpPr>
        <p:spPr>
          <a:xfrm>
            <a:off x="1049216" y="4585121"/>
            <a:ext cx="105156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Это команда отменяет добавление файлов из области подготовки </a:t>
            </a:r>
          </a:p>
        </p:txBody>
      </p:sp>
    </p:spTree>
    <p:extLst>
      <p:ext uri="{BB962C8B-B14F-4D97-AF65-F5344CB8AC3E}">
        <p14:creationId xmlns:p14="http://schemas.microsoft.com/office/powerpoint/2010/main" val="1789443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9D620-435C-AB22-C641-E95EDC2F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216" y="2674143"/>
            <a:ext cx="10515600" cy="1509713"/>
          </a:xfrm>
        </p:spPr>
        <p:txBody>
          <a:bodyPr/>
          <a:lstStyle/>
          <a:p>
            <a:r>
              <a:rPr lang="en-US" sz="5400" dirty="0"/>
              <a:t>git commit –m “first commit”</a:t>
            </a:r>
            <a:endParaRPr lang="ru-RU" sz="54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8B741F-D814-B283-A3EA-63F228F226C3}"/>
              </a:ext>
            </a:extLst>
          </p:cNvPr>
          <p:cNvSpPr/>
          <p:nvPr/>
        </p:nvSpPr>
        <p:spPr>
          <a:xfrm>
            <a:off x="1049216" y="4585121"/>
            <a:ext cx="105156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200" dirty="0"/>
              <a:t>Это "</a:t>
            </a:r>
            <a:r>
              <a:rPr lang="ru-RU" sz="3200" b="1" dirty="0"/>
              <a:t>снимок</a:t>
            </a:r>
            <a:r>
              <a:rPr lang="ru-RU" sz="3200" dirty="0"/>
              <a:t>" или точка сохранения состояния проекта, ключ </a:t>
            </a:r>
            <a:r>
              <a:rPr lang="tk-TM" sz="3200" b="1" dirty="0"/>
              <a:t>–m</a:t>
            </a:r>
            <a:r>
              <a:rPr lang="ru-RU" sz="3200" b="1" dirty="0"/>
              <a:t> </a:t>
            </a:r>
            <a:r>
              <a:rPr lang="ru-RU" sz="3200" dirty="0"/>
              <a:t>это сообщение снимка.</a:t>
            </a:r>
            <a:endParaRPr lang="ru-RU" sz="32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95005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9D620-435C-AB22-C641-E95EDC2F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216" y="2674143"/>
            <a:ext cx="10515600" cy="1509713"/>
          </a:xfrm>
        </p:spPr>
        <p:txBody>
          <a:bodyPr/>
          <a:lstStyle/>
          <a:p>
            <a:r>
              <a:rPr lang="en-US" sz="6600" dirty="0"/>
              <a:t>git remote add origin </a:t>
            </a:r>
            <a:r>
              <a:rPr lang="en-US" sz="6600" i="1" dirty="0" err="1"/>
              <a:t>url</a:t>
            </a:r>
            <a:endParaRPr lang="ru-RU" sz="6600" i="1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8B741F-D814-B283-A3EA-63F228F226C3}"/>
              </a:ext>
            </a:extLst>
          </p:cNvPr>
          <p:cNvSpPr/>
          <p:nvPr/>
        </p:nvSpPr>
        <p:spPr>
          <a:xfrm>
            <a:off x="1049216" y="4585121"/>
            <a:ext cx="1051560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200" dirty="0"/>
              <a:t>Это команда для связывания вашего локального репозитория с удалённым (например, на </a:t>
            </a:r>
            <a:r>
              <a:rPr lang="ru-RU" sz="3200" dirty="0" err="1"/>
              <a:t>GitHub</a:t>
            </a:r>
            <a:r>
              <a:rPr lang="ru-RU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56032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9D620-435C-AB22-C641-E95EDC2F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216" y="2674143"/>
            <a:ext cx="10515600" cy="1509713"/>
          </a:xfrm>
        </p:spPr>
        <p:txBody>
          <a:bodyPr/>
          <a:lstStyle/>
          <a:p>
            <a:r>
              <a:rPr lang="en-US" sz="6600" dirty="0"/>
              <a:t>git push –u origin main</a:t>
            </a:r>
            <a:endParaRPr lang="ru-RU" sz="66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8B741F-D814-B283-A3EA-63F228F226C3}"/>
              </a:ext>
            </a:extLst>
          </p:cNvPr>
          <p:cNvSpPr/>
          <p:nvPr/>
        </p:nvSpPr>
        <p:spPr>
          <a:xfrm>
            <a:off x="1049216" y="4585121"/>
            <a:ext cx="105156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200" dirty="0"/>
              <a:t>Отправляем изменения на </a:t>
            </a:r>
            <a:r>
              <a:rPr lang="en-US" sz="3200" dirty="0"/>
              <a:t>GitHub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378581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9D620-435C-AB22-C641-E95EDC2F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216" y="2674143"/>
            <a:ext cx="10515600" cy="1509713"/>
          </a:xfrm>
        </p:spPr>
        <p:txBody>
          <a:bodyPr/>
          <a:lstStyle/>
          <a:p>
            <a:r>
              <a:rPr lang="en-US" sz="6600" dirty="0"/>
              <a:t>git push</a:t>
            </a:r>
            <a:endParaRPr lang="ru-RU" sz="66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8B741F-D814-B283-A3EA-63F228F226C3}"/>
              </a:ext>
            </a:extLst>
          </p:cNvPr>
          <p:cNvSpPr/>
          <p:nvPr/>
        </p:nvSpPr>
        <p:spPr>
          <a:xfrm>
            <a:off x="1049216" y="4585121"/>
            <a:ext cx="105156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200" dirty="0"/>
              <a:t>Отправляем изменения на </a:t>
            </a:r>
            <a:r>
              <a:rPr lang="en-US" sz="3200" dirty="0"/>
              <a:t>GitHub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825807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49D620-435C-AB22-C641-E95EDC2F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216" y="2674143"/>
            <a:ext cx="10515600" cy="1509713"/>
          </a:xfrm>
        </p:spPr>
        <p:txBody>
          <a:bodyPr/>
          <a:lstStyle/>
          <a:p>
            <a:r>
              <a:rPr lang="en-US" sz="6600" dirty="0"/>
              <a:t>git pull</a:t>
            </a:r>
            <a:endParaRPr lang="ru-RU" sz="66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C8B741F-D814-B283-A3EA-63F228F226C3}"/>
              </a:ext>
            </a:extLst>
          </p:cNvPr>
          <p:cNvSpPr/>
          <p:nvPr/>
        </p:nvSpPr>
        <p:spPr>
          <a:xfrm>
            <a:off x="1049216" y="4585121"/>
            <a:ext cx="105156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3200" dirty="0"/>
              <a:t>Обновляем основную ветку</a:t>
            </a:r>
          </a:p>
        </p:txBody>
      </p:sp>
    </p:spTree>
    <p:extLst>
      <p:ext uri="{BB962C8B-B14F-4D97-AF65-F5344CB8AC3E}">
        <p14:creationId xmlns:p14="http://schemas.microsoft.com/office/powerpoint/2010/main" val="3494872367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69_TF89338750_Win32" id="{38A0B81A-7E44-4B8E-AF89-09AD5D6B18B2}" vid="{49B9A1D1-237B-41E3-8B32-943C85677969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Галактика</Template>
  <TotalTime>201</TotalTime>
  <Words>653</Words>
  <Application>Microsoft Office PowerPoint</Application>
  <PresentationFormat>Широкоэкранный</PresentationFormat>
  <Paragraphs>80</Paragraphs>
  <Slides>20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Symbol</vt:lpstr>
      <vt:lpstr>Univers</vt:lpstr>
      <vt:lpstr>GradientVTI</vt:lpstr>
      <vt:lpstr>Git &amp; github</vt:lpstr>
      <vt:lpstr>Линус Торвальдс</vt:lpstr>
      <vt:lpstr>Что такой Git?</vt:lpstr>
      <vt:lpstr>Используя git</vt:lpstr>
      <vt:lpstr>Git и GitHub</vt:lpstr>
      <vt:lpstr>Как использовать git? </vt:lpstr>
      <vt:lpstr>Bash CLI</vt:lpstr>
      <vt:lpstr>GUI (Graphical User Interface)</vt:lpstr>
      <vt:lpstr>Словарь начинающего гитариста</vt:lpstr>
      <vt:lpstr>Команды cli bash</vt:lpstr>
      <vt:lpstr>Команды cli git bash (2)</vt:lpstr>
      <vt:lpstr>Настройка git</vt:lpstr>
      <vt:lpstr>git init</vt:lpstr>
      <vt:lpstr>git add filename</vt:lpstr>
      <vt:lpstr>git restore --staged filename </vt:lpstr>
      <vt:lpstr>git commit –m “first commit”</vt:lpstr>
      <vt:lpstr>git remote add origin url</vt:lpstr>
      <vt:lpstr>git push –u origin main</vt:lpstr>
      <vt:lpstr>git push</vt:lpstr>
      <vt:lpstr>git pull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</dc:title>
  <dc:creator>kamiljanow didar</dc:creator>
  <cp:lastModifiedBy>Didar</cp:lastModifiedBy>
  <cp:revision>12</cp:revision>
  <dcterms:created xsi:type="dcterms:W3CDTF">2025-08-09T15:23:58Z</dcterms:created>
  <dcterms:modified xsi:type="dcterms:W3CDTF">2025-12-14T00:25:24Z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