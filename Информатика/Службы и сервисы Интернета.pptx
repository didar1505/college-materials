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22D461-77A9-67BE-9782-AB075149D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D96504-6235-8B50-E4B6-6686BBB8E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069301-D65F-90FE-A005-F9A0BC79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8D2FD0-6729-C95F-AB11-1EE32A34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320E7-FC70-D18D-C68C-6DF49A06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83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2127C-FE19-F0CA-1C52-18FEFB94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26305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98532-3478-EE61-8816-081AAC03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521ABA-5A8B-BD9A-C45A-BE3D31E8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CDD086-EED8-B512-8105-4C8667DD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9314C2-0EF4-A6D1-B990-9D546C65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89704B-605C-8277-078D-A73A67346A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07" y="512689"/>
            <a:ext cx="1816307" cy="83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5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5BD61-B0FE-5479-F3AB-2663B918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7481ED-32F4-4E7F-443F-DDCA8D760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F90A20-C1A4-B671-5A7C-DD31E1A9B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2CFF09-0744-D362-9ACA-C524AB6D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B744D-CD12-46EB-D986-81E15C2F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74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40DA2-0308-BBBA-58F4-E1CD6686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731CF-5934-9D1B-CFB8-BB7CF13B0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96780F-3821-82DC-8D57-BF8F96511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060CB1-B459-65E4-F971-C547397C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B2A4B4-9FC8-92CA-3F60-1D49FB0D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B47F4E-CA78-8534-4F2A-D0E12E2E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77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E345C-23B5-2EF4-22F0-F10E2F5A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FEF54F-07B6-6014-DB94-73B3CE33F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347630-187D-D3EF-96A1-DEB4F4A4B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00C32FB-BCEB-0424-B494-B677176E4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77A19A-146B-A89C-99EC-25C2B337F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002B2-66AD-B66B-E5FF-7E89BC2F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7D831F-CCEE-35BB-B210-C09DA8FD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AF55CC-3B58-B6A3-F82E-ABD9AF73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18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679E0-5E1B-C265-9E5D-7D7FE216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798113-2672-8E3D-672A-82F84F40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5E9827-5A8D-664B-6352-246D79D1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0C3D1A-2BF0-68CB-167B-2F6290A8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91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BBB878-E0C9-C24D-BF3B-DE803672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0C0AC3-56F7-7E22-2FB5-E7864ED9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57B071-505E-45AA-2EC4-7D7E9E62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5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1059F-CB57-3B96-FD20-7C14F399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29462D-B987-FA0C-E4C6-1D0450E9F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E72B5F-6B50-8240-41A4-C49830FDD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1CD32E-B281-99CC-C9B0-43AF3C92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FA62F6-71B9-4889-B089-817B367B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4218E1-4BD4-8F33-6C0C-10FC2C6E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15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8BC85-BDD3-6EF0-D393-495301016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BAC6DE9-0932-C70C-BC4B-5CA4FD898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9F8B3D-5915-B16D-5D7C-930E1341E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8CC9A7-A9FA-591F-B5DA-45EDF983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6F4030-9BDA-A39F-9F38-9655BFDB0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B6C750-DB45-7965-82AC-95EFE351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13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0F484-E78D-7540-4D52-55EA7E28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CECD7A-0640-E361-1584-0821550E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16F9B-0FD9-9ACC-E6A8-EFDFF427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0EA55D-D8BA-3097-37EE-E958DC78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9345B0-B1F3-EDCC-5185-D5D731BE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7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C032BE-6C1C-AF64-F058-4B597F46B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935DA8-AD7A-C389-4714-1BE256A40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637C2F-DC4D-E0A2-EFA0-93DB36B9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D40E27-1265-B2A7-F3BF-41362F96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E35D59-7C39-9ED8-2412-94CF6607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24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0AE73-F608-E497-21DD-B012E30D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C3C766-0AA9-BEB7-A676-41EA4979E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97207D-4C77-2463-FBF5-4656464C6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AB592-4E86-43D2-B8FB-2F457A027C2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6A3C2-85FC-D75D-E9B6-6751147EB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24AD9-E4E7-F730-7A7D-CF36D7224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33AF6-7F2F-4466-B498-7165F5B9B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39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C9693-FEA3-E1F4-3F44-4F3B54BE9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Службы и сервисы Интернета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549387-55B9-7047-E7B2-D35FE75713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Как использовать возможности Интернета эффективно и безопасно?</a:t>
            </a:r>
          </a:p>
        </p:txBody>
      </p:sp>
    </p:spTree>
    <p:extLst>
      <p:ext uri="{BB962C8B-B14F-4D97-AF65-F5344CB8AC3E}">
        <p14:creationId xmlns:p14="http://schemas.microsoft.com/office/powerpoint/2010/main" val="17533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66CD8-01C2-1C0C-ABAA-37E88269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разберём сегодня?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CBC88-0CBF-3F5F-B0ED-FB3E54BEF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электронную почту;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мессенджеры;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социальные сети;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форумы;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видеоконференции;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поиск информации;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электронную коммерцию;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государственные цифровые сервисы;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достоверность информации;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фишинг и интернет-мошенничество.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783BDA8-734C-BAEA-1688-4105702E00A2}"/>
              </a:ext>
            </a:extLst>
          </p:cNvPr>
          <p:cNvSpPr txBox="1">
            <a:spLocks/>
          </p:cNvSpPr>
          <p:nvPr/>
        </p:nvSpPr>
        <p:spPr>
          <a:xfrm>
            <a:off x="838200" y="3079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92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921DE-DED7-D81E-5843-1106E7F2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 и интернет-сервисы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7738E7-2FD2-BB3D-5B20-5A0252F6F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Интернет</a:t>
            </a:r>
            <a:r>
              <a:rPr lang="ru-RU" dirty="0"/>
              <a:t> — глобальная система взаимосвязанных компьютерных сетей.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Через Интернет работают различные сервисы: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сайты;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электронная почта;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мессенджеры;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социальные сети;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облачные хранилищ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179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B2E-E7DA-0D88-380E-B6EE76CE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 в повседневной жизни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32AAD-B0C7-1F72-A95A-B350BDA51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6174"/>
            <a:ext cx="53638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общения;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учёбы;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работы;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поиска информации;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просмотра видео;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совершения покупок;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оплаты услуг;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банковских операций;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получения государственных услуг;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развлечений. </a:t>
            </a:r>
          </a:p>
        </p:txBody>
      </p:sp>
    </p:spTree>
    <p:extLst>
      <p:ext uri="{BB962C8B-B14F-4D97-AF65-F5344CB8AC3E}">
        <p14:creationId xmlns:p14="http://schemas.microsoft.com/office/powerpoint/2010/main" val="193732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A83C2-FFBD-40D3-C491-88791527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почта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840E5-5A26-A545-92CC-D4B0B06F2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Электронная почта позволяет: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отправлять сообщения;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передавать документы;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отправлять изображения и другие файлы;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вести деловую переписку;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регистрироваться в интернет-сервисах;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получать уведомления.</a:t>
            </a:r>
          </a:p>
          <a:p>
            <a:endParaRPr lang="ru-RU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98DBEB-74E3-B181-E9B0-77747A0EC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617" y="1690688"/>
            <a:ext cx="5738046" cy="358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 адреса: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student@example.com</a:t>
            </a: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Где: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</a:t>
            </a: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имя пользователя;</a:t>
            </a: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</a:t>
            </a: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разделитель;</a:t>
            </a: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example.com</a:t>
            </a: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домен почтового сервиса.</a:t>
            </a: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65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C9B80-CE02-24B7-6B25-BB420598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электронная почта?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B3BFE-EF77-CE8A-F191-DCB2C617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Упрощённая схема:</a:t>
            </a:r>
          </a:p>
          <a:p>
            <a:pPr marL="0" indent="0" algn="ctr">
              <a:buNone/>
            </a:pPr>
            <a:r>
              <a:rPr lang="ru-RU" sz="2000" b="1" dirty="0"/>
              <a:t>Отправитель → почтовый сервер → Интернет → почтовый сервер → получатель</a:t>
            </a:r>
            <a:endParaRPr lang="ru-RU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Основные протоколы:</a:t>
            </a:r>
          </a:p>
          <a:p>
            <a:pPr marL="0" indent="0">
              <a:buNone/>
            </a:pPr>
            <a:r>
              <a:rPr lang="ru-RU" sz="2400" b="1" dirty="0"/>
              <a:t>SMTP</a:t>
            </a:r>
            <a:r>
              <a:rPr lang="ru-RU" sz="2400" dirty="0"/>
              <a:t> — отправка электронной почты;</a:t>
            </a:r>
          </a:p>
          <a:p>
            <a:pPr marL="0" indent="0">
              <a:buNone/>
            </a:pPr>
            <a:r>
              <a:rPr lang="ru-RU" sz="2400" b="1" dirty="0"/>
              <a:t>IMAP</a:t>
            </a:r>
            <a:r>
              <a:rPr lang="ru-RU" sz="2400" dirty="0"/>
              <a:t> — получение и синхронизация сообщений;</a:t>
            </a:r>
          </a:p>
          <a:p>
            <a:pPr marL="0" indent="0">
              <a:buNone/>
            </a:pPr>
            <a:r>
              <a:rPr lang="ru-RU" sz="2400" b="1" dirty="0"/>
              <a:t>POP3</a:t>
            </a:r>
            <a:r>
              <a:rPr lang="ru-RU" sz="2400" dirty="0"/>
              <a:t> — загрузка сообщений с почтового сервера.</a:t>
            </a:r>
            <a:endParaRPr lang="en-US" sz="2400" dirty="0"/>
          </a:p>
          <a:p>
            <a:pPr marL="0" indent="0">
              <a:buNone/>
            </a:pPr>
            <a:r>
              <a:rPr lang="ru-RU" sz="2400" dirty="0"/>
              <a:t>Основные элементы письма:</a:t>
            </a:r>
            <a:r>
              <a:rPr lang="en-US" sz="2400" dirty="0"/>
              <a:t> </a:t>
            </a:r>
            <a:r>
              <a:rPr lang="ru-RU" sz="2400" dirty="0"/>
              <a:t>отправитель;</a:t>
            </a:r>
            <a:r>
              <a:rPr lang="en-US" sz="2400" dirty="0"/>
              <a:t> </a:t>
            </a:r>
            <a:r>
              <a:rPr lang="ru-RU" sz="2400" dirty="0"/>
              <a:t>получатель;</a:t>
            </a:r>
            <a:r>
              <a:rPr lang="en-US" sz="2400" dirty="0"/>
              <a:t> </a:t>
            </a:r>
            <a:r>
              <a:rPr lang="ru-RU" sz="2400" dirty="0"/>
              <a:t>тема;</a:t>
            </a:r>
            <a:r>
              <a:rPr lang="en-US" sz="2400" dirty="0"/>
              <a:t> </a:t>
            </a:r>
            <a:r>
              <a:rPr lang="ru-RU" sz="2400" dirty="0"/>
              <a:t>текст;</a:t>
            </a:r>
            <a:r>
              <a:rPr lang="en-US" sz="2400" dirty="0"/>
              <a:t>  </a:t>
            </a:r>
            <a:r>
              <a:rPr lang="ru-RU" sz="2400" dirty="0"/>
              <a:t>вложения;</a:t>
            </a:r>
            <a:r>
              <a:rPr lang="en-US" sz="2400" dirty="0"/>
              <a:t> </a:t>
            </a:r>
            <a:r>
              <a:rPr lang="ru-RU" sz="2400" dirty="0"/>
              <a:t>CC — копия;</a:t>
            </a:r>
            <a:r>
              <a:rPr lang="en-US" sz="2400" dirty="0"/>
              <a:t> </a:t>
            </a:r>
            <a:r>
              <a:rPr lang="ru-RU" sz="2400" dirty="0"/>
              <a:t>BCC — скрытая копия.</a:t>
            </a:r>
          </a:p>
          <a:p>
            <a:pPr marL="0" indent="0">
              <a:buNone/>
            </a:pP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872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BC539-7622-1AF8-C33F-F7A19DA4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Мессенджеры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EB911C-5750-DCA8-E5A2-1BA5ECEF0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Мессенджеры предназначены для быстрого обмена информацией.</a:t>
            </a:r>
          </a:p>
          <a:p>
            <a:pPr marL="0" indent="0">
              <a:buNone/>
            </a:pPr>
            <a:r>
              <a:rPr lang="ru-RU" dirty="0"/>
              <a:t>Они позволяют: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отправлять текстовые сообщения;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отправлять фотографии и видео;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передавать документы;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записывать голосовые сообщения;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создавать группы;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6085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0C9EF-89B2-2DF4-91E8-0D0AB2E6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Социальные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51043C-3948-FEB3-CAB6-4BFDDC82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Социальные сети позволяют пользователям: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создавать собственные страницы;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публиковать материалы;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обмениваться сообщениями;</a:t>
            </a:r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Сегодня социальные сети являются не только средством общения, но и источником информации.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Количество просмотров и репостов </a:t>
            </a:r>
            <a:r>
              <a:rPr lang="ru-RU" b="1" dirty="0"/>
              <a:t>не является доказательством достоверности информации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23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F78462-4C4E-F5E4-8CCF-949B356E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Форумы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66AEF-46EB-9F77-5BC7-DFBD708D9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Интернет-форум</a:t>
            </a:r>
            <a:r>
              <a:rPr lang="ru-RU" dirty="0"/>
              <a:t> — сервис для обсуждения определённых тем.</a:t>
            </a:r>
          </a:p>
          <a:p>
            <a:pPr marL="0" indent="0">
              <a:buNone/>
            </a:pPr>
            <a:r>
              <a:rPr lang="ru-RU" dirty="0"/>
              <a:t>Обычно имеет структуру:</a:t>
            </a:r>
          </a:p>
          <a:p>
            <a:pPr marL="0" indent="0" algn="ctr">
              <a:buNone/>
            </a:pPr>
            <a:r>
              <a:rPr lang="ru-RU" b="1" dirty="0"/>
              <a:t>Форум → раздел → тема → сообщения пользователей</a:t>
            </a:r>
            <a:endParaRPr lang="en-US" b="1" dirty="0"/>
          </a:p>
          <a:p>
            <a:pPr marL="0" indent="0" algn="ctr">
              <a:buNone/>
            </a:pPr>
            <a:endParaRPr lang="ru-RU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b="1" dirty="0"/>
              <a:t>Форумы используются для:</a:t>
            </a:r>
            <a:r>
              <a:rPr lang="en-US" b="1" dirty="0"/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обсуждения проблем;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получения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помощи;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обмена опытом;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профессионального общения;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поиска решений.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1" dirty="0"/>
              <a:t>чат </a:t>
            </a:r>
            <a:r>
              <a:rPr lang="ru-RU" dirty="0"/>
              <a:t>— быстрый разговор;</a:t>
            </a:r>
            <a:br>
              <a:rPr lang="ru-RU" b="1" dirty="0"/>
            </a:br>
            <a:r>
              <a:rPr lang="ru-RU" b="1" dirty="0"/>
              <a:t>форум </a:t>
            </a:r>
            <a:r>
              <a:rPr lang="ru-RU" dirty="0"/>
              <a:t>— длительное тематическое обсуждение.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514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B6B35-9A4C-93F5-2AB2-623F4E2D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Видеоконференции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214B4-51AC-4D93-2E37-49EC1ECC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Видеоконференции позволяют людям общаться через Интернет с использованием: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камеры;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микрофона;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динамиков;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подключения к Интернету.</a:t>
            </a:r>
          </a:p>
          <a:p>
            <a:pPr marL="0" indent="0">
              <a:buNone/>
            </a:pPr>
            <a:r>
              <a:rPr lang="ru-RU" dirty="0"/>
              <a:t>Используются для: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дистанционного обучения;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рабочих совещаний;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консультаций;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056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1466B-CA38-17E1-CD6A-CBBE7CF4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чего зависит качество видеосвязи?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F489DD-2FDC-FD94-165E-A77EBBB0F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На качество видеоконференции влияют: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скорость интернет-соединения;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стабильность соединения;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задержка;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None/>
            </a:pPr>
            <a:r>
              <a:rPr lang="ru-RU" b="1" dirty="0" err="1"/>
              <a:t>Latency</a:t>
            </a:r>
            <a:r>
              <a:rPr lang="ru-RU" b="1" dirty="0"/>
              <a:t> — задержка передачи данных.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Bandwidth</a:t>
            </a:r>
            <a:r>
              <a:rPr lang="ru-RU" b="1" dirty="0"/>
              <a:t> — пропускная способность соединения.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При высокой задержке звук и видео могут приходить с опозданием.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46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AB680-7EC9-15C0-DE09-01F01FFA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информации в Интернете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C35B5-A436-6950-AFCC-4826E73A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Поисковая система:</a:t>
            </a:r>
          </a:p>
          <a:p>
            <a:pPr>
              <a:buFont typeface="+mj-lt"/>
              <a:buAutoNum type="arabicPeriod"/>
            </a:pPr>
            <a:r>
              <a:rPr lang="ru-RU" dirty="0"/>
              <a:t>собирает информацию с сайтов;</a:t>
            </a:r>
          </a:p>
          <a:p>
            <a:pPr>
              <a:buFont typeface="+mj-lt"/>
              <a:buAutoNum type="arabicPeriod"/>
            </a:pPr>
            <a:r>
              <a:rPr lang="ru-RU" dirty="0"/>
              <a:t>индексирует страницы;</a:t>
            </a:r>
          </a:p>
          <a:p>
            <a:pPr>
              <a:buFont typeface="+mj-lt"/>
              <a:buAutoNum type="arabicPeriod"/>
            </a:pPr>
            <a:r>
              <a:rPr lang="ru-RU" dirty="0"/>
              <a:t>анализирует запрос пользователя;</a:t>
            </a:r>
          </a:p>
          <a:p>
            <a:pPr>
              <a:buFont typeface="+mj-lt"/>
              <a:buAutoNum type="arabicPeriod"/>
            </a:pPr>
            <a:r>
              <a:rPr lang="ru-RU" dirty="0"/>
              <a:t>показывает наиболее подходящие результаты.</a:t>
            </a:r>
          </a:p>
          <a:p>
            <a:endParaRPr lang="en-US" dirty="0"/>
          </a:p>
          <a:p>
            <a:pPr marL="0" indent="0">
              <a:buNone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Поисковая система помогает найти информацию, но не гарантирует её достоверность.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944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97D37-E3C2-11CF-8C6B-5B74D348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правильно формулировать поисковый запрос?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0B8FEB-79EE-2CE5-4EEF-AD043D11E1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016136"/>
            <a:ext cx="1054893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Плохой запрос: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Он слишком широкий.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Лучше: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python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работа со списками примеры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Ещё точнее: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python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list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comprehension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примеры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Чем точнее сформулирован запрос, тем выше вероятность найти нужную 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val="286597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E4CBA-27EC-70B2-5DD6-54384EAC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поисковые операторы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65EB4F-AE0B-460B-9805-36D1FFC4DB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6"/>
            <a:ext cx="685751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Поиск точной фразы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"информационная безопасность"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Поиск на конкретном сайте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site:python.org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asyncio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Поиск определённого типа файла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filetype:pdf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компьютерные сети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Исключение слова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python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-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snake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Комбинация операторов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site:edu.ru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"компьютерные сети"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filetype:pdf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93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59059-FB86-A61F-7E81-AC5371DB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 не является гарантией истины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926CA8-2824-645D-EA1F-32FE67FB64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45592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создать сайт;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написать статью;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создать канал;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опубликовать видео;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распространять сообщения. </a:t>
            </a:r>
          </a:p>
        </p:txBody>
      </p:sp>
    </p:spTree>
    <p:extLst>
      <p:ext uri="{BB962C8B-B14F-4D97-AF65-F5344CB8AC3E}">
        <p14:creationId xmlns:p14="http://schemas.microsoft.com/office/powerpoint/2010/main" val="227328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8D3AF-6A52-F76E-4A36-A16FB289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проверить информацию?</a:t>
            </a:r>
            <a:r>
              <a:rPr lang="en-US" dirty="0"/>
              <a:t>	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A3606F-D7AF-0CC2-0D3A-E8A11AE22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1. Кто автор?</a:t>
            </a:r>
          </a:p>
          <a:p>
            <a:pPr marL="0" indent="0">
              <a:buNone/>
            </a:pPr>
            <a:r>
              <a:rPr lang="ru-RU" dirty="0"/>
              <a:t>Известно ли его имя и квалификация?</a:t>
            </a:r>
          </a:p>
          <a:p>
            <a:pPr marL="0" indent="0">
              <a:buNone/>
            </a:pPr>
            <a:r>
              <a:rPr lang="ru-RU" b="1" dirty="0"/>
              <a:t>2. Где опубликована информация?</a:t>
            </a:r>
          </a:p>
          <a:p>
            <a:pPr marL="0" indent="0">
              <a:buNone/>
            </a:pPr>
            <a:r>
              <a:rPr lang="ru-RU" dirty="0"/>
              <a:t>Официальный сайт? Университет? СМИ? Социальная сеть?</a:t>
            </a:r>
          </a:p>
          <a:p>
            <a:pPr marL="0" indent="0">
              <a:buNone/>
            </a:pPr>
            <a:r>
              <a:rPr lang="ru-RU" b="1" dirty="0"/>
              <a:t>3. Когда она опубликована?</a:t>
            </a:r>
          </a:p>
          <a:p>
            <a:pPr marL="0" indent="0">
              <a:buNone/>
            </a:pPr>
            <a:r>
              <a:rPr lang="ru-RU" dirty="0"/>
              <a:t>Не устарела ли информация?</a:t>
            </a:r>
          </a:p>
          <a:p>
            <a:pPr marL="0" indent="0">
              <a:buNone/>
            </a:pPr>
            <a:r>
              <a:rPr lang="ru-RU" b="1" dirty="0"/>
              <a:t>4. Есть ли доказательства?</a:t>
            </a:r>
          </a:p>
          <a:p>
            <a:pPr marL="0" indent="0">
              <a:buNone/>
            </a:pPr>
            <a:r>
              <a:rPr lang="ru-RU" dirty="0"/>
              <a:t>Документы, исследования, статистика, ссылки?</a:t>
            </a:r>
          </a:p>
          <a:p>
            <a:pPr marL="0" indent="0">
              <a:buNone/>
            </a:pPr>
            <a:r>
              <a:rPr lang="ru-RU" b="1" dirty="0"/>
              <a:t>5. Подтверждают ли информацию другие источники?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89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9678C-C5DB-5B7F-E80E-2252B40C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Первоисточник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69246-224E-24CC-B90C-97F05C6AD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первоисточник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от</a:t>
            </a:r>
          </a:p>
          <a:p>
            <a:pPr marL="0" indent="0">
              <a:buNone/>
            </a:pPr>
            <a:r>
              <a:rPr lang="ru-RU" b="1" dirty="0"/>
              <a:t>сайта, который пересказывает информацию.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Например:</a:t>
            </a:r>
          </a:p>
          <a:p>
            <a:pPr marL="0" indent="0" algn="ctr">
              <a:buNone/>
            </a:pPr>
            <a:r>
              <a:rPr lang="ru-RU" dirty="0"/>
              <a:t>Исследование проводит университет.</a:t>
            </a:r>
          </a:p>
          <a:p>
            <a:pPr marL="0" indent="0" algn="ctr">
              <a:buNone/>
            </a:pPr>
            <a:r>
              <a:rPr lang="ru-RU" dirty="0"/>
              <a:t>↓ </a:t>
            </a:r>
          </a:p>
          <a:p>
            <a:pPr marL="0" indent="0" algn="ctr">
              <a:buNone/>
            </a:pPr>
            <a:r>
              <a:rPr lang="ru-RU" dirty="0"/>
              <a:t>СМИ пишет об исследовании.</a:t>
            </a:r>
          </a:p>
          <a:p>
            <a:pPr marL="0" indent="0" algn="ctr">
              <a:buNone/>
            </a:pPr>
            <a:r>
              <a:rPr lang="ru-RU" dirty="0"/>
              <a:t>↓ </a:t>
            </a:r>
          </a:p>
          <a:p>
            <a:pPr marL="0" indent="0" algn="ctr">
              <a:buNone/>
            </a:pPr>
            <a:r>
              <a:rPr lang="ru-RU" dirty="0"/>
              <a:t>Блог переписывает статью СМИ.</a:t>
            </a:r>
          </a:p>
          <a:p>
            <a:pPr marL="0" indent="0" algn="ctr">
              <a:buNone/>
            </a:pPr>
            <a:r>
              <a:rPr lang="ru-RU" dirty="0"/>
              <a:t>↓ </a:t>
            </a:r>
          </a:p>
          <a:p>
            <a:pPr marL="0" indent="0">
              <a:buNone/>
            </a:pPr>
            <a:r>
              <a:rPr lang="ru-RU" dirty="0"/>
              <a:t>Сообщение появляется в социальной сети.</a:t>
            </a:r>
          </a:p>
          <a:p>
            <a:pPr marL="0" indent="0">
              <a:buNone/>
            </a:pPr>
            <a:r>
              <a:rPr lang="ru-RU" dirty="0"/>
              <a:t>Самый надёжный вариант — попытаться найти </a:t>
            </a:r>
            <a:r>
              <a:rPr lang="ru-RU" b="1" dirty="0"/>
              <a:t>оригинальное исследование или официальное сообщение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346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D4836-DBDF-D7FC-35A7-5C9B9BE8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Признаки сомнительной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EB2D57-43A8-251F-5679-FF481779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Следует насторожиться, если используются фразы: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«СРОЧНО!!!»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«Врачи скрывают правду!»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«Удалят через несколько часов!»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«Все СМИ молчат!»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«Отправьте это всем знакомым!»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«Учёные в шоке!»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«Получите деньги прямо сейчас!»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8949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1A46A-AFC3-5CC7-D33C-8F1CC0D73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электронная коммерция?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321675-5DCA-5D05-0DF7-4000C679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Электронная коммерция</a:t>
            </a:r>
            <a:r>
              <a:rPr lang="ru-RU" dirty="0"/>
              <a:t> — покупка и продажа товаров и услуг с использованием Интернета и цифровых систем.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интернет-магазины;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маркетплейсы;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онлайн-бронирование;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покупка билетов;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доставка еды;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подписки;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цифровые товары.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286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29D11-58AE-0590-1DF0-154795EF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модели электронной коммерции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9F882C-DFF0-47C9-59EB-C06FB1FC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B2C — Business </a:t>
            </a:r>
            <a:r>
              <a:rPr lang="ru-RU" b="1" dirty="0" err="1"/>
              <a:t>to</a:t>
            </a:r>
            <a:r>
              <a:rPr lang="ru-RU" b="1" dirty="0"/>
              <a:t> Consumer</a:t>
            </a:r>
          </a:p>
          <a:p>
            <a:pPr marL="0" indent="0">
              <a:buNone/>
            </a:pPr>
            <a:r>
              <a:rPr lang="ru-RU" dirty="0"/>
              <a:t>Компания продаёт товар обычному покупателю.</a:t>
            </a:r>
          </a:p>
          <a:p>
            <a:pPr marL="0" indent="0">
              <a:buNone/>
            </a:pPr>
            <a:r>
              <a:rPr lang="ru-RU" b="1" dirty="0"/>
              <a:t>B2B — Business </a:t>
            </a:r>
            <a:r>
              <a:rPr lang="ru-RU" b="1" dirty="0" err="1"/>
              <a:t>to</a:t>
            </a:r>
            <a:r>
              <a:rPr lang="ru-RU" b="1" dirty="0"/>
              <a:t> Business</a:t>
            </a:r>
          </a:p>
          <a:p>
            <a:pPr marL="0" indent="0">
              <a:buNone/>
            </a:pPr>
            <a:r>
              <a:rPr lang="ru-RU" dirty="0"/>
              <a:t>Одна компания предоставляет товары или услуги другой компании.</a:t>
            </a:r>
          </a:p>
          <a:p>
            <a:pPr marL="0" indent="0">
              <a:buNone/>
            </a:pPr>
            <a:r>
              <a:rPr lang="ru-RU" b="1" dirty="0"/>
              <a:t>C2C — Consumer </a:t>
            </a:r>
            <a:r>
              <a:rPr lang="ru-RU" b="1" dirty="0" err="1"/>
              <a:t>to</a:t>
            </a:r>
            <a:r>
              <a:rPr lang="ru-RU" b="1" dirty="0"/>
              <a:t> Consumer</a:t>
            </a:r>
          </a:p>
          <a:p>
            <a:pPr marL="0" indent="0">
              <a:buNone/>
            </a:pPr>
            <a:r>
              <a:rPr lang="ru-RU" dirty="0"/>
              <a:t>Один пользователь продаёт товар другому пользователю.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908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FF329-F937-01C0-C318-7D73D7D2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интернет-покупок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EB7C0C-6C1B-EDEA-7555-34899EA84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Перед покупкой желательно проверить: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адрес сайта;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доменное имя;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продавца;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рейтинг продавца;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отзывы;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условия доставки;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условия возврата;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гарантию;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итоговую стоимость.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1046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F9CBD-FD8E-23AB-1621-C20E12AE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означает </a:t>
            </a:r>
            <a:r>
              <a:rPr lang="en-US"/>
              <a:t>HTTPS?</a:t>
            </a:r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48E268-AFE5-D797-C293-83BAC0886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751" y="2274838"/>
            <a:ext cx="9448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Адрес сайта может начинаться с: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https://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HTTPS означает, что информация между браузером и сайтом передаётся через защищённое соединение.</a:t>
            </a:r>
          </a:p>
        </p:txBody>
      </p:sp>
    </p:spTree>
    <p:extLst>
      <p:ext uri="{BB962C8B-B14F-4D97-AF65-F5344CB8AC3E}">
        <p14:creationId xmlns:p14="http://schemas.microsoft.com/office/powerpoint/2010/main" val="2266196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1C017-3094-9A5B-A67D-A9793713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Проверяем доменное имя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F2A51F-A2F9-07B3-FA62-189F0617D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8"/>
            <a:ext cx="665900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Представим адрес: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gosuslugi.ru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Теперь: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gosuslugi-security.example.com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Основной домен второго адреса: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example.com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gosuslugi-security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только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поддомен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Ещё 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bank.ru.login-confirmation.example.org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Настоящий домен: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example.org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58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7DABA-A85C-5753-99CE-72C9BA5F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471BE-CE92-1D2C-C3CE-2B67418A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b="1" dirty="0"/>
              <a:t>Фишинг</a:t>
            </a:r>
            <a:r>
              <a:rPr lang="ru-RU" dirty="0"/>
              <a:t> — попытка получить конфиденциальную информацию пользователя обманным способом.</a:t>
            </a:r>
          </a:p>
          <a:p>
            <a:pPr marL="0" indent="0" algn="just">
              <a:buNone/>
            </a:pPr>
            <a:r>
              <a:rPr lang="ru-RU" dirty="0"/>
              <a:t>Злоумышленнику могут быть нужны: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логин;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пароль;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номер банковской карты;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CVV;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одноразовый код;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персональные данные.</a:t>
            </a:r>
          </a:p>
          <a:p>
            <a:pPr algn="just"/>
            <a:endParaRPr lang="ru-RU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ADDD43C-F6A3-8EE9-7DE9-4980C21D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821" y="1825625"/>
            <a:ext cx="4373368" cy="437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540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8C5C9-CC59-B322-4626-3C545151F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фишингового сообщения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133DDE-F9A5-E789-8F1B-B8052388A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6"/>
            <a:ext cx="110305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Ваша учётная запись будет заблокирована через 30 минут.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Для подтверждения личности перейдите по ссылке и введите пароль и код из SMS.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Что должно насторожить?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давление временем;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угроза блокировки;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неизвестный адрес;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подозрительная ссылка;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5372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4E53A-D3DC-55BB-9784-9A81710F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Социальная инженерия</a:t>
            </a:r>
          </a:p>
        </p:txBody>
      </p:sp>
      <p:pic>
        <p:nvPicPr>
          <p:cNvPr id="12290" name="Picture 2" descr="Социальная инженерия: история успешных взломов">
            <a:extLst>
              <a:ext uri="{FF2B5EF4-FFF2-40B4-BE49-F238E27FC236}">
                <a16:creationId xmlns:a16="http://schemas.microsoft.com/office/drawing/2014/main" id="{F89809B5-D882-5C12-442F-B5E582F99F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2" y="2087330"/>
            <a:ext cx="8639176" cy="382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963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15E88C5-BCFC-9D40-DDF8-E834FBEC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363"/>
            <a:ext cx="10515600" cy="44196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«Здравствуйте, мы из службы безопасности. Сейчас вам придёт код. Назовите его нам для отмены подозрительной операции».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Никому не сообщать одноразовые коды подтверждения.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847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60EB9-1BB9-997D-E8E3-62CBD429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цифровой след?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ADFCD0-19E6-9331-2D60-11795BFB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Практически каждое действие человека в Интернете может оставлять информацию: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поисковые запросы;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публикации;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комментарии;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фотографии;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регистрации;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покупки;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посещённые сайты;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геолокационные данные;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история общения.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3234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26183-FD2C-30E5-A77B-72D8F6F9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Главное правило работы в Интернете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50DFE1-64E9-486D-E0DE-39095C636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Перед любым важным действием:</a:t>
            </a:r>
          </a:p>
          <a:p>
            <a:pPr marL="0" indent="0" algn="ctr">
              <a:buNone/>
            </a:pPr>
            <a:r>
              <a:rPr lang="ru-RU" sz="2400" b="1" dirty="0"/>
              <a:t>ОСТАНОВИСЬ → ПРОВЕРЬ → ДЕЙСТВУЙ</a:t>
            </a:r>
            <a:endParaRPr lang="ru-RU" sz="2400" dirty="0"/>
          </a:p>
          <a:p>
            <a:pPr marL="0" indent="0">
              <a:buNone/>
            </a:pPr>
            <a:r>
              <a:rPr lang="ru-RU" sz="2400" b="1" dirty="0"/>
              <a:t>Остановись</a:t>
            </a:r>
          </a:p>
          <a:p>
            <a:pPr marL="0" indent="0">
              <a:buNone/>
            </a:pPr>
            <a:r>
              <a:rPr lang="ru-RU" sz="2400" dirty="0"/>
              <a:t>Не принимай решение под давлением.</a:t>
            </a:r>
          </a:p>
          <a:p>
            <a:pPr marL="0" indent="0">
              <a:buNone/>
            </a:pPr>
            <a:r>
              <a:rPr lang="ru-RU" sz="2400" b="1" dirty="0"/>
              <a:t>Проверь</a:t>
            </a:r>
          </a:p>
          <a:p>
            <a:pPr marL="0" indent="0">
              <a:buNone/>
            </a:pPr>
            <a:r>
              <a:rPr lang="ru-RU" sz="2400" dirty="0"/>
              <a:t>Адрес, источник, автора, информацию.</a:t>
            </a:r>
          </a:p>
          <a:p>
            <a:pPr marL="0" indent="0">
              <a:buNone/>
            </a:pPr>
            <a:r>
              <a:rPr lang="ru-RU" sz="2400" b="1" dirty="0"/>
              <a:t>Действуй</a:t>
            </a:r>
          </a:p>
          <a:p>
            <a:pPr marL="0" indent="0">
              <a:buNone/>
            </a:pPr>
            <a:r>
              <a:rPr lang="ru-RU" sz="2400" dirty="0"/>
              <a:t>Только после проверки.</a:t>
            </a:r>
          </a:p>
          <a:p>
            <a:pPr marL="0" indent="0">
              <a:buNone/>
            </a:pPr>
            <a:r>
              <a:rPr lang="ru-RU" sz="2400" dirty="0"/>
              <a:t>Особенно это важно, когда речь идёт о:</a:t>
            </a:r>
            <a:r>
              <a:rPr lang="en-US" sz="2400" dirty="0"/>
              <a:t> </a:t>
            </a:r>
            <a:r>
              <a:rPr lang="ru-RU" sz="2400" dirty="0"/>
              <a:t>деньгах;</a:t>
            </a:r>
            <a:r>
              <a:rPr lang="en-US" sz="2400" dirty="0"/>
              <a:t> </a:t>
            </a:r>
            <a:r>
              <a:rPr lang="ru-RU" sz="2400" dirty="0"/>
              <a:t>паролях;</a:t>
            </a:r>
            <a:r>
              <a:rPr lang="en-US" sz="2400" dirty="0"/>
              <a:t> </a:t>
            </a:r>
            <a:r>
              <a:rPr lang="ru-RU" sz="2400" dirty="0"/>
              <a:t>персональных данных;</a:t>
            </a:r>
            <a:r>
              <a:rPr lang="en-US" sz="2400" dirty="0"/>
              <a:t> </a:t>
            </a:r>
            <a:r>
              <a:rPr lang="ru-RU" sz="2400" dirty="0"/>
              <a:t>документах.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558294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1108</Words>
  <Application>Microsoft Office PowerPoint</Application>
  <PresentationFormat>Широкоэкранный</PresentationFormat>
  <Paragraphs>251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Arial Unicode MS</vt:lpstr>
      <vt:lpstr>Calibri</vt:lpstr>
      <vt:lpstr>Calibri Light</vt:lpstr>
      <vt:lpstr>Тема Office</vt:lpstr>
      <vt:lpstr>Службы и сервисы Интернета</vt:lpstr>
      <vt:lpstr>Что мы разберём сегодня?</vt:lpstr>
      <vt:lpstr>Интернет и интернет-сервисы</vt:lpstr>
      <vt:lpstr>Интернет в повседневной жизни</vt:lpstr>
      <vt:lpstr>Электронная почта</vt:lpstr>
      <vt:lpstr>Как работает электронная почта?</vt:lpstr>
      <vt:lpstr>Мессенджеры</vt:lpstr>
      <vt:lpstr>Социальные сети</vt:lpstr>
      <vt:lpstr>Форумы</vt:lpstr>
      <vt:lpstr>Видеоконференции</vt:lpstr>
      <vt:lpstr>От чего зависит качество видеосвязи?</vt:lpstr>
      <vt:lpstr>Поиск информации в Интернете</vt:lpstr>
      <vt:lpstr>Как правильно формулировать поисковый запрос?</vt:lpstr>
      <vt:lpstr>Полезные поисковые операторы</vt:lpstr>
      <vt:lpstr>Интернет не является гарантией истины</vt:lpstr>
      <vt:lpstr>Как проверить информацию? </vt:lpstr>
      <vt:lpstr>Первоисточник</vt:lpstr>
      <vt:lpstr>Признаки сомнительной информации</vt:lpstr>
      <vt:lpstr>Что такое электронная коммерция?</vt:lpstr>
      <vt:lpstr>Основные модели электронной коммерции</vt:lpstr>
      <vt:lpstr>Безопасность интернет-покупок</vt:lpstr>
      <vt:lpstr>Что означает HTTPS?</vt:lpstr>
      <vt:lpstr>Проверяем доменное имя</vt:lpstr>
      <vt:lpstr>Фишинг</vt:lpstr>
      <vt:lpstr>Пример фишингового сообщения</vt:lpstr>
      <vt:lpstr>Социальная инженерия</vt:lpstr>
      <vt:lpstr>Презентация PowerPoint</vt:lpstr>
      <vt:lpstr>Что такое цифровой след?</vt:lpstr>
      <vt:lpstr>Главное правило работы в Интернете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Службы и сервисы Интернета</dc:title>
  <dc:creator>Didar</dc:creator>
  <cp:lastModifiedBy>Didar</cp:lastModifiedBy>
  <cp:revision>9</cp:revision>
  <dcterms:created xsi:type="dcterms:W3CDTF">2026-09-30T23:11:57Z</dcterms:created>
  <dcterms:modified xsi:type="dcterms:W3CDTF">2026-09-30T23:43:13Z</dcterms:modified>
</cp:coreProperties>
</file>